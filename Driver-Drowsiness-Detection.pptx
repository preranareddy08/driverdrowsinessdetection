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70" r:id="rId2"/>
    <p:sldId id="294" r:id="rId3"/>
    <p:sldId id="281" r:id="rId4"/>
    <p:sldId id="282" r:id="rId5"/>
    <p:sldId id="286" r:id="rId6"/>
    <p:sldId id="285" r:id="rId7"/>
    <p:sldId id="299" r:id="rId8"/>
    <p:sldId id="301" r:id="rId9"/>
    <p:sldId id="289" r:id="rId10"/>
    <p:sldId id="296" r:id="rId11"/>
    <p:sldId id="297" r:id="rId12"/>
    <p:sldId id="295" r:id="rId13"/>
    <p:sldId id="267" r:id="rId1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70" autoAdjust="0"/>
    <p:restoredTop sz="94660"/>
  </p:normalViewPr>
  <p:slideViewPr>
    <p:cSldViewPr>
      <p:cViewPr varScale="1">
        <p:scale>
          <a:sx n="55" d="100"/>
          <a:sy n="55" d="100"/>
        </p:scale>
        <p:origin x="109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213536-D36D-4C65-A80B-D13B087A7C72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216D1-D47F-4721-B844-92200B3EF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203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216D1-D47F-4721-B844-92200B3EF77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495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77786" y="4179146"/>
            <a:ext cx="8156575" cy="2691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231F20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231F20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D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42137" y="394131"/>
            <a:ext cx="15003725" cy="17077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77991" y="2205345"/>
            <a:ext cx="8667115" cy="5683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231F20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www.python.org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pencv.org/" TargetMode="External"/><Relationship Id="rId5" Type="http://schemas.openxmlformats.org/officeDocument/2006/relationships/hyperlink" Target="http://dlib.net/" TargetMode="Externa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2667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BFBFA"/>
          </a:solidFill>
        </p:spPr>
        <p:txBody>
          <a:bodyPr wrap="square" lIns="0" tIns="0" rIns="0" bIns="0" rtlCol="0"/>
          <a:lstStyle/>
          <a:p>
            <a:r>
              <a:rPr lang="en-IN" dirty="0"/>
              <a:t>  </a:t>
            </a:r>
            <a:endParaRPr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567" y="860789"/>
            <a:ext cx="1638299" cy="13906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3400" y="315492"/>
            <a:ext cx="17754600" cy="1424732"/>
          </a:xfrm>
          <a:prstGeom prst="rect">
            <a:avLst/>
          </a:prstGeom>
        </p:spPr>
        <p:txBody>
          <a:bodyPr vert="horz" wrap="square" lIns="0" tIns="801353" rIns="0" bIns="0" rtlCol="0" anchor="ctr">
            <a:spAutoFit/>
          </a:bodyPr>
          <a:lstStyle/>
          <a:p>
            <a:pPr marL="1729191">
              <a:spcBef>
                <a:spcPts val="100"/>
              </a:spcBef>
            </a:pPr>
            <a:r>
              <a:rPr lang="en-IN" sz="4000" b="1" spc="-114" dirty="0">
                <a:solidFill>
                  <a:srgbClr val="BF050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	</a:t>
            </a:r>
            <a:r>
              <a:rPr sz="4000" b="1" spc="-114">
                <a:solidFill>
                  <a:srgbClr val="BF050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RAJIV</a:t>
            </a:r>
            <a:r>
              <a:rPr sz="4000" b="1" spc="-45">
                <a:solidFill>
                  <a:srgbClr val="BF050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sz="4000" b="1" dirty="0">
                <a:solidFill>
                  <a:srgbClr val="BF050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GANDHI</a:t>
            </a:r>
            <a:r>
              <a:rPr sz="4000" b="1" spc="-41" dirty="0">
                <a:solidFill>
                  <a:srgbClr val="BF050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sz="4000" b="1" spc="56" dirty="0">
                <a:solidFill>
                  <a:srgbClr val="BF050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UNIVERSITY</a:t>
            </a:r>
            <a:r>
              <a:rPr sz="4000" b="1" spc="-41" dirty="0">
                <a:solidFill>
                  <a:srgbClr val="BF050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sz="4000" b="1" spc="-95">
                <a:solidFill>
                  <a:srgbClr val="BF050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OF</a:t>
            </a:r>
            <a:r>
              <a:rPr sz="4000" b="1" spc="-41">
                <a:solidFill>
                  <a:srgbClr val="BF050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sz="4000" b="1">
                <a:solidFill>
                  <a:srgbClr val="BF050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KNOWLEDGE</a:t>
            </a:r>
            <a:r>
              <a:rPr lang="en-IN" sz="4000" b="1" dirty="0">
                <a:solidFill>
                  <a:srgbClr val="BF050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sz="4000" b="1" spc="-11">
                <a:solidFill>
                  <a:srgbClr val="BF050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TECHNOLOGIES</a:t>
            </a:r>
            <a:endParaRPr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8469" y="2795737"/>
            <a:ext cx="14630400" cy="2210863"/>
          </a:xfrm>
          <a:prstGeom prst="rect">
            <a:avLst/>
          </a:prstGeom>
        </p:spPr>
        <p:txBody>
          <a:bodyPr vert="horz" wrap="square" lIns="0" tIns="12701" rIns="0" bIns="0" rtlCol="0">
            <a:spAutoFit/>
          </a:bodyPr>
          <a:lstStyle/>
          <a:p>
            <a:pPr marL="608996" algn="ctr">
              <a:spcBef>
                <a:spcPts val="100"/>
              </a:spcBef>
            </a:pPr>
            <a:r>
              <a:rPr lang="en-IN" sz="3800" b="1" dirty="0">
                <a:solidFill>
                  <a:schemeClr val="accent3">
                    <a:lumMod val="50000"/>
                  </a:schemeClr>
                </a:solidFill>
                <a:latin typeface="+mn-lt"/>
                <a:cs typeface="Trebuchet MS"/>
              </a:rPr>
              <a:t>D</a:t>
            </a:r>
            <a:r>
              <a:rPr sz="3800" b="1" dirty="0">
                <a:solidFill>
                  <a:schemeClr val="accent3">
                    <a:lumMod val="50000"/>
                  </a:schemeClr>
                </a:solidFill>
                <a:latin typeface="+mn-lt"/>
                <a:cs typeface="Trebuchet MS"/>
              </a:rPr>
              <a:t>EPARTMENT</a:t>
            </a:r>
            <a:r>
              <a:rPr sz="3800" b="1" spc="60" dirty="0">
                <a:solidFill>
                  <a:schemeClr val="accent3">
                    <a:lumMod val="50000"/>
                  </a:schemeClr>
                </a:solidFill>
                <a:latin typeface="+mn-lt"/>
                <a:cs typeface="Trebuchet MS"/>
              </a:rPr>
              <a:t> </a:t>
            </a:r>
            <a:r>
              <a:rPr sz="3800" b="1" spc="-90" dirty="0">
                <a:solidFill>
                  <a:schemeClr val="accent3">
                    <a:lumMod val="50000"/>
                  </a:schemeClr>
                </a:solidFill>
                <a:latin typeface="+mn-lt"/>
                <a:cs typeface="Trebuchet MS"/>
              </a:rPr>
              <a:t>OF</a:t>
            </a:r>
            <a:r>
              <a:rPr sz="3800" b="1" spc="65" dirty="0">
                <a:solidFill>
                  <a:schemeClr val="accent3">
                    <a:lumMod val="50000"/>
                  </a:schemeClr>
                </a:solidFill>
                <a:latin typeface="+mn-lt"/>
                <a:cs typeface="Trebuchet MS"/>
              </a:rPr>
              <a:t> </a:t>
            </a:r>
            <a:r>
              <a:rPr sz="3800" b="1" dirty="0">
                <a:solidFill>
                  <a:schemeClr val="accent3">
                    <a:lumMod val="50000"/>
                  </a:schemeClr>
                </a:solidFill>
                <a:latin typeface="+mn-lt"/>
                <a:cs typeface="Trebuchet MS"/>
              </a:rPr>
              <a:t>COMPUTER</a:t>
            </a:r>
            <a:r>
              <a:rPr sz="3800" b="1" spc="65" dirty="0">
                <a:solidFill>
                  <a:schemeClr val="accent3">
                    <a:lumMod val="50000"/>
                  </a:schemeClr>
                </a:solidFill>
                <a:latin typeface="+mn-lt"/>
                <a:cs typeface="Trebuchet MS"/>
              </a:rPr>
              <a:t> </a:t>
            </a:r>
            <a:r>
              <a:rPr sz="3800" b="1" dirty="0" smtClean="0">
                <a:solidFill>
                  <a:schemeClr val="accent3">
                    <a:lumMod val="50000"/>
                  </a:schemeClr>
                </a:solidFill>
                <a:latin typeface="+mn-lt"/>
                <a:cs typeface="Trebuchet MS"/>
              </a:rPr>
              <a:t>SCIENCE</a:t>
            </a:r>
            <a:r>
              <a:rPr lang="en-US" sz="3800" b="1" dirty="0" smtClean="0">
                <a:solidFill>
                  <a:schemeClr val="accent3">
                    <a:lumMod val="50000"/>
                  </a:schemeClr>
                </a:solidFill>
                <a:latin typeface="+mn-lt"/>
                <a:cs typeface="Trebuchet MS"/>
              </a:rPr>
              <a:t> AND </a:t>
            </a:r>
            <a:r>
              <a:rPr sz="3800" b="1" spc="65" dirty="0" smtClean="0">
                <a:solidFill>
                  <a:schemeClr val="accent3">
                    <a:lumMod val="50000"/>
                  </a:schemeClr>
                </a:solidFill>
                <a:latin typeface="+mn-lt"/>
                <a:cs typeface="Trebuchet MS"/>
              </a:rPr>
              <a:t> </a:t>
            </a:r>
            <a:r>
              <a:rPr sz="3800" b="1" spc="-11" dirty="0">
                <a:solidFill>
                  <a:schemeClr val="accent3">
                    <a:lumMod val="50000"/>
                  </a:schemeClr>
                </a:solidFill>
                <a:latin typeface="+mn-lt"/>
                <a:cs typeface="Trebuchet MS"/>
              </a:rPr>
              <a:t>ENGINEERING</a:t>
            </a:r>
            <a:endParaRPr lang="en-IN" sz="3800" b="1" spc="-11" dirty="0">
              <a:solidFill>
                <a:schemeClr val="accent3">
                  <a:lumMod val="50000"/>
                </a:schemeClr>
              </a:solidFill>
              <a:latin typeface="+mn-lt"/>
              <a:cs typeface="Trebuchet MS"/>
            </a:endParaRPr>
          </a:p>
          <a:p>
            <a:pPr marL="608996" algn="ctr">
              <a:spcBef>
                <a:spcPts val="100"/>
              </a:spcBef>
            </a:pPr>
            <a:endParaRPr lang="en-IN" sz="3800" dirty="0">
              <a:latin typeface="+mn-lt"/>
              <a:cs typeface="Trebuchet MS"/>
            </a:endParaRPr>
          </a:p>
          <a:p>
            <a:pPr marL="12701" algn="ctr">
              <a:tabLst>
                <a:tab pos="11146713" algn="l"/>
              </a:tabLst>
            </a:pPr>
            <a:r>
              <a:rPr lang="en-US" sz="6600" b="1" spc="-40" dirty="0" smtClean="0">
                <a:solidFill>
                  <a:srgbClr val="110F0D"/>
                </a:solidFill>
                <a:latin typeface="+mn-lt"/>
                <a:cs typeface="Tahoma"/>
              </a:rPr>
              <a:t>DRIVER DROWSINESS DETECTION</a:t>
            </a:r>
            <a:endParaRPr lang="en-IN" sz="6600" dirty="0">
              <a:solidFill>
                <a:schemeClr val="tx1"/>
              </a:solidFill>
              <a:latin typeface="+mn-lt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24400" y="6591300"/>
            <a:ext cx="1687830" cy="16187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1" marR="5081" indent="-9525" algn="just">
              <a:lnSpc>
                <a:spcPct val="115599"/>
              </a:lnSpc>
              <a:spcBef>
                <a:spcPts val="95"/>
              </a:spcBef>
            </a:pPr>
            <a:r>
              <a:rPr sz="3000" spc="-100" dirty="0">
                <a:latin typeface="Verdana"/>
                <a:cs typeface="Verdana"/>
              </a:rPr>
              <a:t>B1</a:t>
            </a:r>
            <a:r>
              <a:rPr lang="en-IN" sz="3000" spc="-100" dirty="0" smtClean="0">
                <a:latin typeface="Verdana"/>
                <a:cs typeface="Verdana"/>
              </a:rPr>
              <a:t>92045</a:t>
            </a:r>
            <a:r>
              <a:rPr sz="3000" spc="-100" dirty="0" smtClean="0">
                <a:latin typeface="Verdana"/>
                <a:cs typeface="Verdana"/>
              </a:rPr>
              <a:t> </a:t>
            </a:r>
            <a:r>
              <a:rPr sz="3000" spc="-110" dirty="0">
                <a:latin typeface="Verdana"/>
                <a:cs typeface="Verdana"/>
              </a:rPr>
              <a:t>B1</a:t>
            </a:r>
            <a:r>
              <a:rPr lang="en-IN" sz="3000" spc="-110" dirty="0" smtClean="0">
                <a:latin typeface="Verdana"/>
                <a:cs typeface="Verdana"/>
              </a:rPr>
              <a:t>92082</a:t>
            </a:r>
            <a:r>
              <a:rPr sz="3000" spc="-110" dirty="0" smtClean="0">
                <a:latin typeface="Verdana"/>
                <a:cs typeface="Verdana"/>
              </a:rPr>
              <a:t> </a:t>
            </a:r>
            <a:r>
              <a:rPr sz="3000" spc="-110" dirty="0">
                <a:latin typeface="Verdana"/>
                <a:cs typeface="Verdana"/>
              </a:rPr>
              <a:t>B1</a:t>
            </a:r>
            <a:r>
              <a:rPr lang="en-IN" sz="3000" spc="-110" dirty="0" smtClean="0">
                <a:latin typeface="Verdana"/>
                <a:cs typeface="Verdana"/>
              </a:rPr>
              <a:t>92039</a:t>
            </a:r>
            <a:endParaRPr sz="30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8200" y="5829300"/>
            <a:ext cx="3546498" cy="2476319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1">
              <a:spcBef>
                <a:spcPts val="890"/>
              </a:spcBef>
            </a:pPr>
            <a:r>
              <a:rPr sz="3900" b="1" spc="-20" dirty="0">
                <a:latin typeface="Times New Roman"/>
                <a:cs typeface="Times New Roman"/>
              </a:rPr>
              <a:t>Team</a:t>
            </a:r>
            <a:r>
              <a:rPr sz="3900" b="1" spc="-215" dirty="0">
                <a:latin typeface="Times New Roman"/>
                <a:cs typeface="Times New Roman"/>
              </a:rPr>
              <a:t> </a:t>
            </a:r>
            <a:r>
              <a:rPr sz="3900" b="1" spc="-11" dirty="0">
                <a:latin typeface="Times New Roman"/>
                <a:cs typeface="Times New Roman"/>
              </a:rPr>
              <a:t>Details</a:t>
            </a:r>
            <a:endParaRPr sz="3900" dirty="0">
              <a:latin typeface="Times New Roman"/>
              <a:cs typeface="Times New Roman"/>
            </a:endParaRPr>
          </a:p>
          <a:p>
            <a:pPr marL="12701">
              <a:spcBef>
                <a:spcPts val="620"/>
              </a:spcBef>
            </a:pPr>
            <a:r>
              <a:rPr lang="en-IN" sz="3000" spc="290" dirty="0" smtClean="0">
                <a:latin typeface="Verdana"/>
                <a:cs typeface="Verdana"/>
              </a:rPr>
              <a:t>P. </a:t>
            </a:r>
            <a:r>
              <a:rPr lang="en-IN" sz="3000" spc="290" dirty="0" err="1" smtClean="0">
                <a:latin typeface="Verdana"/>
                <a:cs typeface="Verdana"/>
              </a:rPr>
              <a:t>Aishwarya</a:t>
            </a:r>
            <a:r>
              <a:rPr sz="3000" spc="290" dirty="0" smtClean="0">
                <a:latin typeface="Verdana"/>
                <a:cs typeface="Verdana"/>
              </a:rPr>
              <a:t> </a:t>
            </a:r>
            <a:endParaRPr sz="3000" dirty="0">
              <a:latin typeface="Verdana"/>
              <a:cs typeface="Verdana"/>
            </a:endParaRPr>
          </a:p>
          <a:p>
            <a:pPr marL="12701">
              <a:spcBef>
                <a:spcPts val="570"/>
              </a:spcBef>
            </a:pPr>
            <a:r>
              <a:rPr lang="en-IN" sz="3000" dirty="0">
                <a:latin typeface="Verdana"/>
                <a:cs typeface="Verdana"/>
              </a:rPr>
              <a:t>M. </a:t>
            </a:r>
            <a:r>
              <a:rPr lang="en-IN" sz="3000" dirty="0" err="1" smtClean="0">
                <a:latin typeface="Verdana"/>
                <a:cs typeface="Verdana"/>
              </a:rPr>
              <a:t>Prerana</a:t>
            </a:r>
            <a:r>
              <a:rPr lang="en-IN" sz="3000" dirty="0" smtClean="0">
                <a:latin typeface="Verdana"/>
                <a:cs typeface="Verdana"/>
              </a:rPr>
              <a:t> Reddy</a:t>
            </a:r>
            <a:endParaRPr sz="3000" dirty="0">
              <a:latin typeface="Verdana"/>
              <a:cs typeface="Verdana"/>
            </a:endParaRPr>
          </a:p>
          <a:p>
            <a:pPr marL="12701">
              <a:spcBef>
                <a:spcPts val="570"/>
              </a:spcBef>
            </a:pPr>
            <a:r>
              <a:rPr lang="en-IN" sz="3000" dirty="0">
                <a:latin typeface="Verdana"/>
                <a:cs typeface="Verdana"/>
              </a:rPr>
              <a:t>G</a:t>
            </a:r>
            <a:r>
              <a:rPr lang="en-IN" sz="3000" dirty="0" smtClean="0">
                <a:latin typeface="Verdana"/>
                <a:cs typeface="Verdana"/>
              </a:rPr>
              <a:t>. </a:t>
            </a:r>
            <a:r>
              <a:rPr lang="en-IN" sz="3000" dirty="0" err="1" smtClean="0">
                <a:latin typeface="Verdana"/>
                <a:cs typeface="Verdana"/>
              </a:rPr>
              <a:t>Lahari</a:t>
            </a:r>
            <a:endParaRPr sz="3000" dirty="0">
              <a:latin typeface="Verdana"/>
              <a:cs typeface="Verdana"/>
            </a:endParaRPr>
          </a:p>
          <a:p>
            <a:pPr marL="12701">
              <a:spcBef>
                <a:spcPts val="395"/>
              </a:spcBef>
            </a:pPr>
            <a:r>
              <a:rPr sz="700" spc="-26" dirty="0">
                <a:latin typeface="Arial MT"/>
                <a:cs typeface="Arial MT"/>
              </a:rPr>
              <a:t>fd</a:t>
            </a:r>
            <a:endParaRPr sz="7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34400" y="6210300"/>
            <a:ext cx="9753600" cy="2092881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algn="ctr">
              <a:spcBef>
                <a:spcPts val="480"/>
              </a:spcBef>
            </a:pPr>
            <a:r>
              <a:rPr lang="en-IN" sz="3200" spc="50" dirty="0">
                <a:latin typeface="Tahoma"/>
                <a:cs typeface="Tahoma"/>
              </a:rPr>
              <a:t>Guided by</a:t>
            </a:r>
            <a:endParaRPr sz="3200" dirty="0">
              <a:latin typeface="Tahoma"/>
              <a:cs typeface="Tahoma"/>
            </a:endParaRPr>
          </a:p>
          <a:p>
            <a:pPr algn="ctr">
              <a:spcBef>
                <a:spcPts val="371"/>
              </a:spcBef>
            </a:pPr>
            <a:r>
              <a:rPr lang="en-IN" sz="3000" spc="-20" dirty="0">
                <a:latin typeface="Tahoma"/>
                <a:cs typeface="Tahoma"/>
              </a:rPr>
              <a:t>    Mrs. </a:t>
            </a:r>
            <a:r>
              <a:rPr lang="en-IN" sz="3000" spc="-20" dirty="0" smtClean="0">
                <a:latin typeface="Tahoma"/>
                <a:cs typeface="Tahoma"/>
              </a:rPr>
              <a:t>G. </a:t>
            </a:r>
            <a:r>
              <a:rPr lang="en-IN" sz="3000" spc="-20" dirty="0" err="1" smtClean="0">
                <a:latin typeface="Tahoma"/>
                <a:cs typeface="Tahoma"/>
              </a:rPr>
              <a:t>Srujana</a:t>
            </a:r>
            <a:endParaRPr lang="en-IN" sz="3000" spc="-20" dirty="0">
              <a:latin typeface="Tahoma"/>
              <a:cs typeface="Tahoma"/>
            </a:endParaRPr>
          </a:p>
          <a:p>
            <a:pPr algn="ctr">
              <a:spcBef>
                <a:spcPts val="371"/>
              </a:spcBef>
            </a:pPr>
            <a:r>
              <a:rPr lang="en-IN" sz="3000" spc="-20" dirty="0">
                <a:latin typeface="Tahoma"/>
                <a:cs typeface="Tahoma"/>
              </a:rPr>
              <a:t> Asst. prof.CSE, RGUKT </a:t>
            </a:r>
            <a:r>
              <a:rPr lang="en-IN" sz="3000" spc="-20" dirty="0" err="1">
                <a:latin typeface="Tahoma"/>
                <a:cs typeface="Tahoma"/>
              </a:rPr>
              <a:t>Basar</a:t>
            </a:r>
            <a:r>
              <a:rPr lang="en-IN" sz="3000" spc="-20" dirty="0">
                <a:latin typeface="Tahoma"/>
                <a:cs typeface="Tahoma"/>
              </a:rPr>
              <a:t>.</a:t>
            </a:r>
          </a:p>
          <a:p>
            <a:pPr algn="ctr">
              <a:spcBef>
                <a:spcPts val="371"/>
              </a:spcBef>
            </a:pPr>
            <a:endParaRPr lang="en-IN" sz="3000" spc="-20" dirty="0">
              <a:latin typeface="Tahoma"/>
              <a:cs typeface="Tahoma"/>
            </a:endParaRPr>
          </a:p>
        </p:txBody>
      </p:sp>
      <p:pic>
        <p:nvPicPr>
          <p:cNvPr id="13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31006" y="0"/>
            <a:ext cx="2956994" cy="1695297"/>
          </a:xfrm>
          <a:prstGeom prst="rect">
            <a:avLst/>
          </a:prstGeom>
        </p:spPr>
      </p:pic>
      <p:pic>
        <p:nvPicPr>
          <p:cNvPr id="14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 rot="10800000">
            <a:off x="1143000" y="9258299"/>
            <a:ext cx="1828800" cy="1028700"/>
          </a:xfrm>
          <a:prstGeom prst="rect">
            <a:avLst/>
          </a:prstGeom>
        </p:spPr>
      </p:pic>
      <p:pic>
        <p:nvPicPr>
          <p:cNvPr id="1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113129" y="8591694"/>
            <a:ext cx="2174870" cy="1695304"/>
          </a:xfrm>
          <a:prstGeom prst="rect">
            <a:avLst/>
          </a:prstGeom>
        </p:spPr>
      </p:pic>
      <p:pic>
        <p:nvPicPr>
          <p:cNvPr id="18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 rot="10800000">
            <a:off x="0" y="0"/>
            <a:ext cx="7620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1500" y="571500"/>
            <a:ext cx="11252200" cy="630942"/>
          </a:xfrm>
          <a:prstGeom prst="rect">
            <a:avLst/>
          </a:prstGeom>
          <a:solidFill>
            <a:srgbClr val="1B5011"/>
          </a:solidFill>
        </p:spPr>
        <p:txBody>
          <a:bodyPr vert="horz" wrap="square" lIns="0" tIns="76200" rIns="0" bIns="0" rtlCol="0">
            <a:spAutoFit/>
          </a:bodyPr>
          <a:lstStyle/>
          <a:p>
            <a:pPr marL="80645" algn="ctr">
              <a:lnSpc>
                <a:spcPct val="100000"/>
              </a:lnSpc>
              <a:spcBef>
                <a:spcPts val="600"/>
              </a:spcBef>
              <a:tabLst>
                <a:tab pos="2632710" algn="l"/>
              </a:tabLst>
            </a:pPr>
            <a:r>
              <a:rPr lang="en-US" spc="570" dirty="0"/>
              <a:t>ABSTRACT</a:t>
            </a:r>
            <a:endParaRPr spc="57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13129" y="8591694"/>
            <a:ext cx="2174870" cy="16953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989" y="0"/>
            <a:ext cx="1914524" cy="10642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31003" y="0"/>
            <a:ext cx="2956994" cy="169529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71800" y="1866900"/>
            <a:ext cx="11391900" cy="5981766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dirty="0" smtClean="0">
                <a:latin typeface="+mn-lt"/>
              </a:rPr>
              <a:t>Driver Drowsiness has become one of the main reasons for large number of road accidents.</a:t>
            </a:r>
          </a:p>
          <a:p>
            <a:pPr>
              <a:buFont typeface="Wingdings" pitchFamily="2" charset="2"/>
              <a:buChar char="Ø"/>
            </a:pPr>
            <a:endParaRPr lang="en-US" sz="3200" dirty="0">
              <a:latin typeface="+mn-lt"/>
            </a:endParaRPr>
          </a:p>
          <a:p>
            <a:pPr>
              <a:buFont typeface="Wingdings" pitchFamily="2" charset="2"/>
              <a:buChar char="Ø"/>
            </a:pPr>
            <a:r>
              <a:rPr lang="en-US" sz="3200" dirty="0" smtClean="0">
                <a:latin typeface="+mn-lt"/>
              </a:rPr>
              <a:t>The main aim of this project is to overcome the problem of road accidents which are related to drivers experiencing tiredness leads to a need arises to design a system that keeps the driver focused on the road.</a:t>
            </a:r>
          </a:p>
          <a:p>
            <a:pPr>
              <a:buFont typeface="Wingdings" pitchFamily="2" charset="2"/>
              <a:buChar char="Ø"/>
            </a:pPr>
            <a:endParaRPr lang="en-US" sz="3200" dirty="0">
              <a:latin typeface="+mn-lt"/>
            </a:endParaRPr>
          </a:p>
          <a:p>
            <a:pPr>
              <a:buFont typeface="Wingdings" pitchFamily="2" charset="2"/>
              <a:buChar char="Ø"/>
            </a:pPr>
            <a:r>
              <a:rPr lang="en-US" sz="3200" dirty="0" smtClean="0">
                <a:latin typeface="+mn-lt"/>
              </a:rPr>
              <a:t>With the evolution and improvement in computer vision technologies, smart/intelligent cameras are developed to predict drowsiness in drivers, thereby alerting drivers which in turn reduce accidents when they are feeling drowsy.</a:t>
            </a:r>
            <a:endParaRPr lang="en-US" sz="3200" dirty="0"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7500" y="532177"/>
            <a:ext cx="11506200" cy="630942"/>
          </a:xfrm>
          <a:prstGeom prst="rect">
            <a:avLst/>
          </a:prstGeom>
          <a:solidFill>
            <a:srgbClr val="1B5011"/>
          </a:solidFill>
        </p:spPr>
        <p:txBody>
          <a:bodyPr vert="horz" wrap="square" lIns="0" tIns="76200" rIns="0" bIns="0" rtlCol="0">
            <a:spAutoFit/>
          </a:bodyPr>
          <a:lstStyle/>
          <a:p>
            <a:pPr marL="80645" algn="ctr">
              <a:lnSpc>
                <a:spcPct val="100000"/>
              </a:lnSpc>
              <a:spcBef>
                <a:spcPts val="600"/>
              </a:spcBef>
              <a:tabLst>
                <a:tab pos="2632710" algn="l"/>
              </a:tabLst>
            </a:pPr>
            <a:r>
              <a:rPr lang="en-US" spc="570" dirty="0"/>
              <a:t>INTRODUCTION &amp; LITERATURE OVERVIEW</a:t>
            </a:r>
            <a:endParaRPr spc="57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13129" y="8591694"/>
            <a:ext cx="2174870" cy="16953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989" y="0"/>
            <a:ext cx="1914524" cy="10642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31003" y="0"/>
            <a:ext cx="2956994" cy="1695297"/>
          </a:xfrm>
          <a:prstGeom prst="rect">
            <a:avLst/>
          </a:prstGeom>
        </p:spPr>
      </p:pic>
      <p:sp>
        <p:nvSpPr>
          <p:cNvPr id="13" name="object 9">
            <a:extLst>
              <a:ext uri="{FF2B5EF4-FFF2-40B4-BE49-F238E27FC236}">
                <a16:creationId xmlns:a16="http://schemas.microsoft.com/office/drawing/2014/main" id="{C926AE03-22DF-2A70-0DD8-58EBDED4D7A1}"/>
              </a:ext>
            </a:extLst>
          </p:cNvPr>
          <p:cNvSpPr txBox="1"/>
          <p:nvPr/>
        </p:nvSpPr>
        <p:spPr>
          <a:xfrm>
            <a:off x="2971800" y="1866900"/>
            <a:ext cx="11391900" cy="6474208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dirty="0" smtClean="0">
                <a:latin typeface="+mn-lt"/>
              </a:rPr>
              <a:t>Most of the accidents in India happen due to lack of concentration of the driver. Performance of the driver gradually deteriorates owing to drowsiness.</a:t>
            </a:r>
          </a:p>
          <a:p>
            <a:pPr>
              <a:buFont typeface="Wingdings" pitchFamily="2" charset="2"/>
              <a:buChar char="Ø"/>
            </a:pPr>
            <a:endParaRPr lang="en-US" sz="3200" dirty="0" smtClean="0">
              <a:latin typeface="+mn-lt"/>
            </a:endParaRPr>
          </a:p>
          <a:p>
            <a:pPr>
              <a:buFont typeface="Wingdings" pitchFamily="2" charset="2"/>
              <a:buChar char="Ø"/>
            </a:pPr>
            <a:r>
              <a:rPr lang="en-US" sz="3200" dirty="0" smtClean="0">
                <a:latin typeface="+mn-lt"/>
              </a:rPr>
              <a:t>This system captures images as a video stream through a cameras, detects the face and localizes the eyes and mouth.</a:t>
            </a:r>
          </a:p>
          <a:p>
            <a:pPr>
              <a:buFont typeface="Wingdings" pitchFamily="2" charset="2"/>
              <a:buChar char="Ø"/>
            </a:pPr>
            <a:endParaRPr lang="en-US" sz="3200" dirty="0" smtClean="0">
              <a:latin typeface="+mn-lt"/>
            </a:endParaRPr>
          </a:p>
          <a:p>
            <a:pPr>
              <a:buFont typeface="Wingdings" pitchFamily="2" charset="2"/>
              <a:buChar char="Ø"/>
            </a:pPr>
            <a:r>
              <a:rPr lang="en-US" sz="3200" dirty="0" smtClean="0">
                <a:latin typeface="+mn-lt"/>
              </a:rPr>
              <a:t>The eyes are then analyzed for drowsiness detection using EAR(eye aspect ratio) and mouth using MAR(mouth aspect ratio).</a:t>
            </a:r>
          </a:p>
          <a:p>
            <a:pPr>
              <a:buFont typeface="Wingdings" pitchFamily="2" charset="2"/>
              <a:buChar char="Ø"/>
            </a:pPr>
            <a:endParaRPr lang="en-US" sz="3200" dirty="0" smtClean="0">
              <a:latin typeface="+mn-lt"/>
            </a:endParaRPr>
          </a:p>
          <a:p>
            <a:pPr>
              <a:buFont typeface="Wingdings" pitchFamily="2" charset="2"/>
              <a:buChar char="Ø"/>
            </a:pPr>
            <a:r>
              <a:rPr lang="en-US" sz="3200" dirty="0" smtClean="0">
                <a:latin typeface="+mn-lt"/>
              </a:rPr>
              <a:t>Based on the result, the driver is alerted for drowsiness through an alarm system.</a:t>
            </a:r>
            <a:endParaRPr lang="en-US" sz="3200" dirty="0">
              <a:latin typeface="+mn-lt"/>
            </a:endParaRPr>
          </a:p>
          <a:p>
            <a:pPr>
              <a:buFont typeface="Wingdings" pitchFamily="2" charset="2"/>
              <a:buChar char="Ø"/>
            </a:pPr>
            <a:endParaRPr lang="en-US" sz="3200" dirty="0"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1800" y="532177"/>
            <a:ext cx="11747500" cy="630942"/>
          </a:xfrm>
          <a:prstGeom prst="rect">
            <a:avLst/>
          </a:prstGeom>
          <a:solidFill>
            <a:srgbClr val="1B5011"/>
          </a:solidFill>
        </p:spPr>
        <p:txBody>
          <a:bodyPr vert="horz" wrap="square" lIns="0" tIns="76200" rIns="0" bIns="0" rtlCol="0">
            <a:spAutoFit/>
          </a:bodyPr>
          <a:lstStyle/>
          <a:p>
            <a:pPr marL="80645" algn="ctr">
              <a:lnSpc>
                <a:spcPct val="100000"/>
              </a:lnSpc>
              <a:spcBef>
                <a:spcPts val="600"/>
              </a:spcBef>
              <a:tabLst>
                <a:tab pos="2632710" algn="l"/>
              </a:tabLst>
            </a:pPr>
            <a:r>
              <a:rPr lang="en-US" spc="570" dirty="0"/>
              <a:t>PROBLEM STATEMENT</a:t>
            </a:r>
            <a:endParaRPr spc="570" dirty="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13129" y="8591694"/>
            <a:ext cx="2174870" cy="16953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4989" y="0"/>
            <a:ext cx="1914524" cy="10642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331003" y="0"/>
            <a:ext cx="2956994" cy="1695297"/>
          </a:xfrm>
          <a:prstGeom prst="rect">
            <a:avLst/>
          </a:prstGeom>
        </p:spPr>
      </p:pic>
      <p:sp>
        <p:nvSpPr>
          <p:cNvPr id="10" name="object 9">
            <a:extLst>
              <a:ext uri="{FF2B5EF4-FFF2-40B4-BE49-F238E27FC236}">
                <a16:creationId xmlns:a16="http://schemas.microsoft.com/office/drawing/2014/main" id="{87DF72E5-C521-43F6-1FA1-50D2A2957765}"/>
              </a:ext>
            </a:extLst>
          </p:cNvPr>
          <p:cNvSpPr txBox="1"/>
          <p:nvPr/>
        </p:nvSpPr>
        <p:spPr>
          <a:xfrm>
            <a:off x="2971800" y="1562100"/>
            <a:ext cx="11391900" cy="3088666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 smtClean="0"/>
              <a:t>Most drowsiness detection methods are intrusive, expensive, or lack real-time intervention, making them impractical for personal or widespread use.</a:t>
            </a:r>
            <a:endParaRPr lang="en-US" sz="2800" dirty="0">
              <a:latin typeface="+mn-lt"/>
            </a:endParaRPr>
          </a:p>
          <a:p>
            <a:pPr>
              <a:buFont typeface="Wingdings" pitchFamily="2" charset="2"/>
              <a:buChar char="Ø"/>
            </a:pPr>
            <a:endParaRPr lang="en-US" sz="2800" dirty="0">
              <a:latin typeface="+mn-lt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There is a need for a lightweight, real-time driver drowsiness detection system using a standard camera and open-source tools to monitor eye behavior and alert the driver when fatigue is detected.</a:t>
            </a:r>
            <a:endParaRPr lang="en-US" sz="2800" dirty="0">
              <a:latin typeface="+mn-lt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4CCA57F0-A27C-853A-CDA8-4DBB143278F9}"/>
              </a:ext>
            </a:extLst>
          </p:cNvPr>
          <p:cNvSpPr txBox="1">
            <a:spLocks/>
          </p:cNvSpPr>
          <p:nvPr/>
        </p:nvSpPr>
        <p:spPr>
          <a:xfrm>
            <a:off x="2971800" y="5282321"/>
            <a:ext cx="11747500" cy="630942"/>
          </a:xfrm>
          <a:prstGeom prst="rect">
            <a:avLst/>
          </a:prstGeom>
          <a:solidFill>
            <a:srgbClr val="1B5011"/>
          </a:solidFill>
        </p:spPr>
        <p:txBody>
          <a:bodyPr vert="horz" wrap="square" lIns="0" tIns="76200" rIns="0" bIns="0" rtlCol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80645" algn="ctr">
              <a:spcBef>
                <a:spcPts val="600"/>
              </a:spcBef>
              <a:tabLst>
                <a:tab pos="2632710" algn="l"/>
              </a:tabLst>
            </a:pPr>
            <a:r>
              <a:rPr lang="en-US" spc="570" dirty="0"/>
              <a:t>OBJECTIVES</a:t>
            </a: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7A937E13-1221-BF2D-15B6-85AC3F13FF80}"/>
              </a:ext>
            </a:extLst>
          </p:cNvPr>
          <p:cNvSpPr txBox="1"/>
          <p:nvPr/>
        </p:nvSpPr>
        <p:spPr>
          <a:xfrm>
            <a:off x="2934269" y="6210300"/>
            <a:ext cx="11391900" cy="3088666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 smtClean="0"/>
              <a:t>To build a Python-based driver drowsiness detection system with core features like real-time facial landmark detection, EAR and MAR monitoring and audio alerts.</a:t>
            </a:r>
          </a:p>
          <a:p>
            <a:pPr>
              <a:buFont typeface="Wingdings" pitchFamily="2" charset="2"/>
              <a:buChar char="Ø"/>
            </a:pPr>
            <a:endParaRPr lang="en-US" sz="2800" dirty="0" smtClean="0">
              <a:latin typeface="+mn-lt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To offer an open-source, easily extendable solution that demonstrates real-time fatigue detection with minimal resources – ideal for learning and experimentation</a:t>
            </a:r>
            <a:r>
              <a:rPr lang="en-US" sz="2800" dirty="0" smtClean="0">
                <a:latin typeface="+mn-lt"/>
              </a:rPr>
              <a:t>.</a:t>
            </a:r>
            <a:endParaRPr lang="en-US" sz="2800" dirty="0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723900"/>
            <a:ext cx="13335000" cy="630942"/>
          </a:xfrm>
          <a:prstGeom prst="rect">
            <a:avLst/>
          </a:prstGeom>
          <a:solidFill>
            <a:srgbClr val="1B5011"/>
          </a:solidFill>
        </p:spPr>
        <p:txBody>
          <a:bodyPr vert="horz" wrap="square" lIns="0" tIns="76200" rIns="0" bIns="0" rtlCol="0">
            <a:spAutoFit/>
          </a:bodyPr>
          <a:lstStyle/>
          <a:p>
            <a:pPr marL="80645" algn="ctr">
              <a:lnSpc>
                <a:spcPct val="100000"/>
              </a:lnSpc>
              <a:spcBef>
                <a:spcPts val="600"/>
              </a:spcBef>
              <a:tabLst>
                <a:tab pos="2632710" algn="l"/>
              </a:tabLst>
            </a:pPr>
            <a:r>
              <a:rPr lang="en-US" spc="570" dirty="0"/>
              <a:t>WORK </a:t>
            </a:r>
            <a:r>
              <a:rPr lang="en-US" spc="570"/>
              <a:t>FLOW </a:t>
            </a:r>
            <a:r>
              <a:rPr lang="en-US" spc="570" smtClean="0"/>
              <a:t>DIAGRAM</a:t>
            </a:r>
            <a:endParaRPr spc="57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13129" y="8591694"/>
            <a:ext cx="2174870" cy="169530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31003" y="0"/>
            <a:ext cx="2956994" cy="16952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199" y="1695296"/>
            <a:ext cx="7315201" cy="83250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1500" y="571500"/>
            <a:ext cx="11176000" cy="630942"/>
          </a:xfrm>
          <a:prstGeom prst="rect">
            <a:avLst/>
          </a:prstGeom>
          <a:solidFill>
            <a:srgbClr val="1B5011"/>
          </a:solidFill>
        </p:spPr>
        <p:txBody>
          <a:bodyPr vert="horz" wrap="square" lIns="0" tIns="76200" rIns="0" bIns="0" rtlCol="0">
            <a:spAutoFit/>
          </a:bodyPr>
          <a:lstStyle/>
          <a:p>
            <a:pPr marL="80645" algn="ctr">
              <a:lnSpc>
                <a:spcPct val="100000"/>
              </a:lnSpc>
              <a:spcBef>
                <a:spcPts val="600"/>
              </a:spcBef>
              <a:tabLst>
                <a:tab pos="2632710" algn="l"/>
              </a:tabLst>
            </a:pPr>
            <a:r>
              <a:rPr lang="en-US" spc="570" dirty="0"/>
              <a:t>IMPLEMENTATION</a:t>
            </a:r>
            <a:endParaRPr spc="57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13129" y="8591694"/>
            <a:ext cx="2174870" cy="16953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989" y="0"/>
            <a:ext cx="1914524" cy="10642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31003" y="0"/>
            <a:ext cx="2956994" cy="1695297"/>
          </a:xfrm>
          <a:prstGeom prst="rect">
            <a:avLst/>
          </a:prstGeom>
        </p:spPr>
      </p:pic>
      <p:sp>
        <p:nvSpPr>
          <p:cNvPr id="3" name="object 9">
            <a:extLst>
              <a:ext uri="{FF2B5EF4-FFF2-40B4-BE49-F238E27FC236}">
                <a16:creationId xmlns:a16="http://schemas.microsoft.com/office/drawing/2014/main" id="{3713E748-5581-4333-7C3D-E68E9E0F7063}"/>
              </a:ext>
            </a:extLst>
          </p:cNvPr>
          <p:cNvSpPr txBox="1"/>
          <p:nvPr/>
        </p:nvSpPr>
        <p:spPr>
          <a:xfrm>
            <a:off x="2971800" y="1866900"/>
            <a:ext cx="11391900" cy="4996881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b="1" dirty="0" err="1" smtClean="0"/>
              <a:t>OpenCV</a:t>
            </a:r>
            <a:r>
              <a:rPr lang="en-US" sz="3200" dirty="0" smtClean="0"/>
              <a:t> – live video capture and image processing</a:t>
            </a:r>
          </a:p>
          <a:p>
            <a:pPr>
              <a:buFont typeface="Wingdings" pitchFamily="2" charset="2"/>
              <a:buChar char="Ø"/>
            </a:pPr>
            <a:endParaRPr lang="en-US" sz="3200" dirty="0">
              <a:latin typeface="+mn-lt"/>
            </a:endParaRPr>
          </a:p>
          <a:p>
            <a:pPr>
              <a:buFont typeface="Wingdings" pitchFamily="2" charset="2"/>
              <a:buChar char="Ø"/>
            </a:pPr>
            <a:r>
              <a:rPr lang="en-US" sz="3200" b="1" dirty="0" err="1" smtClean="0"/>
              <a:t>dlib</a:t>
            </a:r>
            <a:r>
              <a:rPr lang="en-US" sz="3200" dirty="0" smtClean="0"/>
              <a:t>– facial‑landmark detection and head‑pose estimation</a:t>
            </a:r>
            <a:r>
              <a:rPr lang="en-US" sz="3200" dirty="0" smtClean="0">
                <a:latin typeface="+mn-lt"/>
              </a:rPr>
              <a:t>.</a:t>
            </a:r>
          </a:p>
          <a:p>
            <a:pPr>
              <a:buFont typeface="Wingdings" pitchFamily="2" charset="2"/>
              <a:buChar char="Ø"/>
            </a:pPr>
            <a:endParaRPr lang="en-US" sz="3200" dirty="0">
              <a:latin typeface="+mn-lt"/>
            </a:endParaRPr>
          </a:p>
          <a:p>
            <a:pPr>
              <a:buFont typeface="Wingdings" pitchFamily="2" charset="2"/>
              <a:buChar char="Ø"/>
            </a:pPr>
            <a:r>
              <a:rPr lang="en-US" sz="3200" b="1" dirty="0" err="1" smtClean="0"/>
              <a:t>NumPy</a:t>
            </a:r>
            <a:r>
              <a:rPr lang="en-US" sz="3200" b="1" dirty="0" smtClean="0"/>
              <a:t> / </a:t>
            </a:r>
            <a:r>
              <a:rPr lang="en-US" sz="3200" b="1" dirty="0" err="1" smtClean="0"/>
              <a:t>SciPy</a:t>
            </a:r>
            <a:r>
              <a:rPr lang="en-US" sz="3200" dirty="0" smtClean="0"/>
              <a:t> – fast numerical operations for EAR &amp; MAR calculations</a:t>
            </a:r>
          </a:p>
          <a:p>
            <a:pPr>
              <a:buFont typeface="Wingdings" pitchFamily="2" charset="2"/>
              <a:buChar char="Ø"/>
            </a:pPr>
            <a:endParaRPr lang="en-US" sz="3200" dirty="0">
              <a:latin typeface="+mn-lt"/>
            </a:endParaRPr>
          </a:p>
          <a:p>
            <a:pPr>
              <a:buFont typeface="Wingdings" pitchFamily="2" charset="2"/>
              <a:buChar char="Ø"/>
            </a:pPr>
            <a:r>
              <a:rPr lang="en-US" sz="3200" b="1" dirty="0" smtClean="0"/>
              <a:t>python‑</a:t>
            </a:r>
            <a:r>
              <a:rPr lang="en-US" sz="3200" b="1" dirty="0" err="1" smtClean="0"/>
              <a:t>vlc</a:t>
            </a:r>
            <a:r>
              <a:rPr lang="en-US" sz="3200" b="1" dirty="0" smtClean="0"/>
              <a:t> / </a:t>
            </a:r>
            <a:r>
              <a:rPr lang="en-US" sz="3200" b="1" dirty="0" err="1" smtClean="0"/>
              <a:t>playsound</a:t>
            </a:r>
            <a:r>
              <a:rPr lang="en-US" sz="3200" dirty="0" smtClean="0"/>
              <a:t> – local audio alerts prompting the driver to refocus</a:t>
            </a:r>
            <a:endParaRPr lang="en-US" sz="3200" dirty="0">
              <a:latin typeface="+mn-lt"/>
            </a:endParaRPr>
          </a:p>
          <a:p>
            <a:endParaRPr lang="en-US" sz="3200" dirty="0">
              <a:latin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1500" y="571500"/>
            <a:ext cx="11176000" cy="630942"/>
          </a:xfrm>
          <a:prstGeom prst="rect">
            <a:avLst/>
          </a:prstGeom>
          <a:solidFill>
            <a:srgbClr val="1B5011"/>
          </a:solidFill>
        </p:spPr>
        <p:txBody>
          <a:bodyPr vert="horz" wrap="square" lIns="0" tIns="76200" rIns="0" bIns="0" rtlCol="0">
            <a:spAutoFit/>
          </a:bodyPr>
          <a:lstStyle/>
          <a:p>
            <a:pPr marL="80645" algn="ctr">
              <a:lnSpc>
                <a:spcPct val="100000"/>
              </a:lnSpc>
              <a:spcBef>
                <a:spcPts val="600"/>
              </a:spcBef>
              <a:tabLst>
                <a:tab pos="2632710" algn="l"/>
              </a:tabLst>
            </a:pPr>
            <a:r>
              <a:rPr lang="en-US" spc="570" dirty="0"/>
              <a:t>IMPLEMENTATION</a:t>
            </a:r>
            <a:endParaRPr spc="57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13129" y="8591694"/>
            <a:ext cx="2174870" cy="16953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-18365"/>
            <a:ext cx="1914524" cy="10642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31003" y="0"/>
            <a:ext cx="2956994" cy="1695297"/>
          </a:xfrm>
          <a:prstGeom prst="rect">
            <a:avLst/>
          </a:prstGeom>
        </p:spPr>
      </p:pic>
      <p:sp>
        <p:nvSpPr>
          <p:cNvPr id="3" name="object 9">
            <a:extLst>
              <a:ext uri="{FF2B5EF4-FFF2-40B4-BE49-F238E27FC236}">
                <a16:creationId xmlns:a16="http://schemas.microsoft.com/office/drawing/2014/main" id="{3713E748-5581-4333-7C3D-E68E9E0F7063}"/>
              </a:ext>
            </a:extLst>
          </p:cNvPr>
          <p:cNvSpPr txBox="1"/>
          <p:nvPr/>
        </p:nvSpPr>
        <p:spPr>
          <a:xfrm>
            <a:off x="2971800" y="1866900"/>
            <a:ext cx="11391900" cy="10413748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 smtClean="0"/>
              <a:t> Capture real-time video frames from the webcam.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 smtClean="0"/>
              <a:t> </a:t>
            </a:r>
            <a:r>
              <a:rPr lang="en-US" sz="2800" dirty="0" smtClean="0"/>
              <a:t>Use </a:t>
            </a:r>
            <a:r>
              <a:rPr lang="en-US" sz="2800" dirty="0" err="1" smtClean="0"/>
              <a:t>Dlib</a:t>
            </a:r>
            <a:r>
              <a:rPr lang="en-US" sz="2800" dirty="0" smtClean="0"/>
              <a:t> to detect faces in each frame.</a:t>
            </a:r>
            <a:endParaRPr lang="en-US" sz="2800" dirty="0">
              <a:latin typeface="+mn-lt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 Identify facial landmarks (eyes, mouth, etc.)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/>
              <a:t>Calculate:</a:t>
            </a:r>
          </a:p>
          <a:p>
            <a:r>
              <a:rPr lang="en-US" sz="2800" b="1" dirty="0" smtClean="0"/>
              <a:t>    </a:t>
            </a:r>
            <a:r>
              <a:rPr lang="en-US" sz="2800" dirty="0" smtClean="0"/>
              <a:t>EAR (Eye Aspect Ratio) – for eye closure.</a:t>
            </a:r>
          </a:p>
          <a:p>
            <a:r>
              <a:rPr lang="en-US" sz="2800" dirty="0" smtClean="0"/>
              <a:t>    MAR (Mouth Aspect Ratio) – for yawning detection.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/>
              <a:t>If </a:t>
            </a:r>
            <a:r>
              <a:rPr lang="en-US" sz="2800" b="1" dirty="0" smtClean="0"/>
              <a:t>EAR &lt; threshold</a:t>
            </a:r>
            <a:r>
              <a:rPr lang="en-US" sz="2800" dirty="0" smtClean="0"/>
              <a:t>:</a:t>
            </a:r>
          </a:p>
          <a:p>
            <a:r>
              <a:rPr lang="en-US" sz="2800" dirty="0" smtClean="0"/>
              <a:t>     Increment drowsy frame count (possible eye closure).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/>
              <a:t>If </a:t>
            </a:r>
            <a:r>
              <a:rPr lang="en-US" sz="2800" b="1" dirty="0" smtClean="0"/>
              <a:t>EAR &gt;= threshold</a:t>
            </a:r>
            <a:r>
              <a:rPr lang="en-US" sz="2800" dirty="0" smtClean="0"/>
              <a:t>:</a:t>
            </a:r>
          </a:p>
          <a:p>
            <a:r>
              <a:rPr lang="en-US" sz="2800" dirty="0" smtClean="0"/>
              <a:t>     Reset drowsy counter(eyes likely open).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/>
              <a:t>If </a:t>
            </a:r>
            <a:r>
              <a:rPr lang="en-US" sz="2800" b="1" dirty="0" smtClean="0"/>
              <a:t>MAR &gt; threshold</a:t>
            </a:r>
            <a:r>
              <a:rPr lang="en-US" sz="2800" dirty="0" smtClean="0"/>
              <a:t>:</a:t>
            </a:r>
          </a:p>
          <a:p>
            <a:r>
              <a:rPr lang="en-US" sz="2800" dirty="0" smtClean="0"/>
              <a:t>     Detect yawning → Display </a:t>
            </a:r>
            <a:r>
              <a:rPr lang="en-US" sz="2800" b="1" dirty="0" smtClean="0"/>
              <a:t>“DROWSY”</a:t>
            </a:r>
            <a:r>
              <a:rPr lang="en-US" sz="2800" dirty="0" smtClean="0"/>
              <a:t> alert.</a:t>
            </a:r>
          </a:p>
          <a:p>
            <a:endParaRPr lang="en-US" sz="2800" dirty="0" smtClean="0"/>
          </a:p>
          <a:p>
            <a:r>
              <a:rPr lang="en-US" sz="2800" dirty="0" smtClean="0"/>
              <a:t>     Else → Display </a:t>
            </a:r>
            <a:r>
              <a:rPr lang="en-US" sz="2800" b="1" dirty="0" smtClean="0"/>
              <a:t>“AWAKE”</a:t>
            </a:r>
            <a:r>
              <a:rPr lang="en-US" sz="2800" dirty="0" smtClean="0"/>
              <a:t> (driver is alert)</a:t>
            </a:r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 smtClean="0"/>
          </a:p>
          <a:p>
            <a:endParaRPr lang="en-US" sz="2800" dirty="0" smtClean="0"/>
          </a:p>
          <a:p>
            <a:endParaRPr lang="en-US" sz="2800" dirty="0">
              <a:latin typeface="+mn-lt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0" y="-323166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04800" y="-18365"/>
            <a:ext cx="2616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619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1500" y="571500"/>
            <a:ext cx="11176000" cy="630942"/>
          </a:xfrm>
          <a:prstGeom prst="rect">
            <a:avLst/>
          </a:prstGeom>
          <a:solidFill>
            <a:srgbClr val="1B5011"/>
          </a:solidFill>
        </p:spPr>
        <p:txBody>
          <a:bodyPr vert="horz" wrap="square" lIns="0" tIns="76200" rIns="0" bIns="0" rtlCol="0">
            <a:spAutoFit/>
          </a:bodyPr>
          <a:lstStyle/>
          <a:p>
            <a:pPr marL="80645" algn="ctr">
              <a:lnSpc>
                <a:spcPct val="100000"/>
              </a:lnSpc>
              <a:spcBef>
                <a:spcPts val="600"/>
              </a:spcBef>
              <a:tabLst>
                <a:tab pos="2632710" algn="l"/>
              </a:tabLst>
            </a:pPr>
            <a:r>
              <a:rPr lang="en-US" spc="570" dirty="0"/>
              <a:t>IMPLEMENTATION</a:t>
            </a:r>
            <a:endParaRPr spc="57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13129" y="8591694"/>
            <a:ext cx="2174870" cy="16953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-18365"/>
            <a:ext cx="1914524" cy="10642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31003" y="0"/>
            <a:ext cx="2956994" cy="1695297"/>
          </a:xfrm>
          <a:prstGeom prst="rect">
            <a:avLst/>
          </a:prstGeom>
        </p:spPr>
      </p:pic>
      <p:sp>
        <p:nvSpPr>
          <p:cNvPr id="3" name="object 9">
            <a:extLst>
              <a:ext uri="{FF2B5EF4-FFF2-40B4-BE49-F238E27FC236}">
                <a16:creationId xmlns:a16="http://schemas.microsoft.com/office/drawing/2014/main" id="{3713E748-5581-4333-7C3D-E68E9E0F7063}"/>
              </a:ext>
            </a:extLst>
          </p:cNvPr>
          <p:cNvSpPr txBox="1"/>
          <p:nvPr/>
        </p:nvSpPr>
        <p:spPr>
          <a:xfrm>
            <a:off x="2971800" y="1866900"/>
            <a:ext cx="11391900" cy="4504438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>
              <a:buFont typeface="Wingdings" pitchFamily="2" charset="2"/>
              <a:buChar char="Ø"/>
            </a:pPr>
            <a:endParaRPr lang="en-US" sz="3200" dirty="0" smtClean="0"/>
          </a:p>
          <a:p>
            <a:endParaRPr lang="en-US" sz="3200" dirty="0" smtClean="0"/>
          </a:p>
          <a:p>
            <a:endParaRPr lang="en-US" sz="3200" dirty="0" smtClean="0"/>
          </a:p>
          <a:p>
            <a:endParaRPr lang="en-US" sz="3200" dirty="0" smtClean="0"/>
          </a:p>
          <a:p>
            <a:endParaRPr lang="en-US" sz="3200" dirty="0" smtClean="0"/>
          </a:p>
          <a:p>
            <a:endParaRPr lang="en-US" sz="32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200" dirty="0" smtClean="0"/>
          </a:p>
          <a:p>
            <a:endParaRPr lang="en-US" sz="3200" dirty="0" smtClean="0"/>
          </a:p>
          <a:p>
            <a:endParaRPr lang="en-US" sz="3200" dirty="0">
              <a:latin typeface="+mn-lt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0" y="-323166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04800" y="-18365"/>
            <a:ext cx="2616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4401" y="2339830"/>
            <a:ext cx="6953399" cy="21178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5658705"/>
            <a:ext cx="6750280" cy="22279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339830"/>
            <a:ext cx="5334000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902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5600" y="571500"/>
            <a:ext cx="11811000" cy="692497"/>
          </a:xfrm>
          <a:prstGeom prst="rect">
            <a:avLst/>
          </a:prstGeom>
          <a:solidFill>
            <a:srgbClr val="1B5011"/>
          </a:solidFill>
        </p:spPr>
        <p:txBody>
          <a:bodyPr vert="horz" wrap="square" lIns="0" tIns="76200" rIns="0" bIns="0" rtlCol="0">
            <a:spAutoFit/>
          </a:bodyPr>
          <a:lstStyle/>
          <a:p>
            <a:pPr marL="80645" algn="ctr">
              <a:lnSpc>
                <a:spcPct val="100000"/>
              </a:lnSpc>
              <a:spcBef>
                <a:spcPts val="600"/>
              </a:spcBef>
              <a:tabLst>
                <a:tab pos="2632710" algn="l"/>
              </a:tabLst>
            </a:pPr>
            <a:r>
              <a:rPr lang="en-US" sz="4000" spc="570" dirty="0"/>
              <a:t>RESULT AND ANALYSIS</a:t>
            </a:r>
            <a:endParaRPr sz="4000" spc="57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13129" y="8591694"/>
            <a:ext cx="2174870" cy="16953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989" y="0"/>
            <a:ext cx="1914524" cy="10642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31003" y="0"/>
            <a:ext cx="2956994" cy="1695297"/>
          </a:xfrm>
          <a:prstGeom prst="rect">
            <a:avLst/>
          </a:prstGeom>
        </p:spPr>
      </p:pic>
      <p:sp>
        <p:nvSpPr>
          <p:cNvPr id="3" name="object 9">
            <a:extLst>
              <a:ext uri="{FF2B5EF4-FFF2-40B4-BE49-F238E27FC236}">
                <a16:creationId xmlns:a16="http://schemas.microsoft.com/office/drawing/2014/main" id="{6BC3E316-4DB6-5CC9-599B-4AB6BBAFC370}"/>
              </a:ext>
            </a:extLst>
          </p:cNvPr>
          <p:cNvSpPr txBox="1"/>
          <p:nvPr/>
        </p:nvSpPr>
        <p:spPr>
          <a:xfrm>
            <a:off x="2971800" y="1866900"/>
            <a:ext cx="11391900" cy="5981766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dirty="0" smtClean="0"/>
              <a:t>System captures </a:t>
            </a:r>
            <a:r>
              <a:rPr lang="en-US" sz="3200" b="1" dirty="0" smtClean="0"/>
              <a:t>real-time video</a:t>
            </a:r>
            <a:r>
              <a:rPr lang="en-US" sz="3200" dirty="0" smtClean="0"/>
              <a:t> from webcam</a:t>
            </a:r>
            <a:r>
              <a:rPr lang="en-US" sz="3200" dirty="0" smtClean="0">
                <a:latin typeface="+mn-lt"/>
              </a:rPr>
              <a:t>.</a:t>
            </a:r>
            <a:endParaRPr lang="en-US" sz="3200" dirty="0">
              <a:latin typeface="+mn-lt"/>
            </a:endParaRPr>
          </a:p>
          <a:p>
            <a:endParaRPr lang="en-US" sz="3200" dirty="0">
              <a:latin typeface="+mn-lt"/>
            </a:endParaRPr>
          </a:p>
          <a:p>
            <a:pPr>
              <a:buFont typeface="Wingdings" pitchFamily="2" charset="2"/>
              <a:buChar char="Ø"/>
            </a:pPr>
            <a:r>
              <a:rPr lang="en-US" sz="3200" dirty="0" smtClean="0"/>
              <a:t>Achieves over </a:t>
            </a:r>
            <a:r>
              <a:rPr lang="en-US" sz="3200" b="1" dirty="0" smtClean="0"/>
              <a:t>90% accuracy</a:t>
            </a:r>
            <a:r>
              <a:rPr lang="en-US" sz="3200" dirty="0" smtClean="0"/>
              <a:t> in detecting drowsiness in controlled (quiet) environments.</a:t>
            </a:r>
          </a:p>
          <a:p>
            <a:endParaRPr lang="en-US" sz="3200" dirty="0">
              <a:latin typeface="+mn-lt"/>
            </a:endParaRPr>
          </a:p>
          <a:p>
            <a:pPr>
              <a:buFont typeface="Wingdings" pitchFamily="2" charset="2"/>
              <a:buChar char="Ø"/>
            </a:pPr>
            <a:r>
              <a:rPr lang="en-US" sz="3200" dirty="0" smtClean="0"/>
              <a:t>Successfully triggers </a:t>
            </a:r>
            <a:r>
              <a:rPr lang="en-US" sz="3200" b="1" dirty="0" smtClean="0"/>
              <a:t>“DROWSY”</a:t>
            </a:r>
            <a:r>
              <a:rPr lang="en-US" sz="3200" dirty="0" smtClean="0"/>
              <a:t> or </a:t>
            </a:r>
            <a:r>
              <a:rPr lang="en-US" sz="3200" b="1" dirty="0" smtClean="0"/>
              <a:t>“AWAKE”</a:t>
            </a:r>
            <a:r>
              <a:rPr lang="en-US" sz="3200" dirty="0" smtClean="0"/>
              <a:t> alerts based on EAR and MAR thresholds.</a:t>
            </a:r>
          </a:p>
          <a:p>
            <a:pPr>
              <a:buFont typeface="Wingdings" pitchFamily="2" charset="2"/>
              <a:buChar char="Ø"/>
            </a:pPr>
            <a:endParaRPr lang="en-US" sz="3200" dirty="0"/>
          </a:p>
          <a:p>
            <a:pPr>
              <a:buFont typeface="Wingdings" pitchFamily="2" charset="2"/>
              <a:buChar char="Ø"/>
            </a:pPr>
            <a:r>
              <a:rPr lang="en-US" sz="3200" dirty="0" smtClean="0"/>
              <a:t>Tested with multiple users and lighting conditions, maintaining reliable performance.</a:t>
            </a:r>
          </a:p>
          <a:p>
            <a:endParaRPr lang="en-US" sz="3200" dirty="0">
              <a:latin typeface="+mn-lt"/>
            </a:endParaRPr>
          </a:p>
          <a:p>
            <a:endParaRPr lang="en-US" sz="3200" dirty="0">
              <a:latin typeface="+mn-lt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52400" y="-1707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630A9-A4EF-9FB2-C8C9-2AE39ECD7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E3C8D51-0AF5-4051-B269-44C7FB494E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95600" y="571500"/>
            <a:ext cx="11811000" cy="692497"/>
          </a:xfrm>
          <a:prstGeom prst="rect">
            <a:avLst/>
          </a:prstGeom>
          <a:solidFill>
            <a:srgbClr val="1B5011"/>
          </a:solidFill>
        </p:spPr>
        <p:txBody>
          <a:bodyPr vert="horz" wrap="square" lIns="0" tIns="76200" rIns="0" bIns="0" rtlCol="0">
            <a:spAutoFit/>
          </a:bodyPr>
          <a:lstStyle/>
          <a:p>
            <a:pPr marL="80645" algn="ctr">
              <a:lnSpc>
                <a:spcPct val="100000"/>
              </a:lnSpc>
              <a:spcBef>
                <a:spcPts val="600"/>
              </a:spcBef>
              <a:tabLst>
                <a:tab pos="2632710" algn="l"/>
              </a:tabLst>
            </a:pPr>
            <a:r>
              <a:rPr lang="en-US" sz="4000" spc="570" dirty="0"/>
              <a:t>COMPARISION WITH EXISTING METHODS</a:t>
            </a:r>
            <a:endParaRPr sz="4000" spc="57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AF33FE3-7BBB-AE54-B0F8-CF0E206F97C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13129" y="8591694"/>
            <a:ext cx="2174870" cy="16953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67BDAAC8-87C3-39FE-EB16-55F240B0D48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989" y="0"/>
            <a:ext cx="1914524" cy="1064259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7BCF45BA-EDE2-95AB-0E1D-1D8EA803473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31003" y="0"/>
            <a:ext cx="2956994" cy="1695297"/>
          </a:xfrm>
          <a:prstGeom prst="rect">
            <a:avLst/>
          </a:prstGeom>
        </p:spPr>
      </p:pic>
      <p:sp>
        <p:nvSpPr>
          <p:cNvPr id="3" name="object 9">
            <a:extLst>
              <a:ext uri="{FF2B5EF4-FFF2-40B4-BE49-F238E27FC236}">
                <a16:creationId xmlns:a16="http://schemas.microsoft.com/office/drawing/2014/main" id="{0B58E747-518D-3181-3151-98A2C5994BCB}"/>
              </a:ext>
            </a:extLst>
          </p:cNvPr>
          <p:cNvSpPr txBox="1"/>
          <p:nvPr/>
        </p:nvSpPr>
        <p:spPr>
          <a:xfrm>
            <a:off x="2971800" y="1866900"/>
            <a:ext cx="11391900" cy="6474208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+mn-lt"/>
              </a:rPr>
              <a:t>Current drowsiness detection systems monitoring the driver's condition requires complex computation and expensive equipment, not comfortable to wear during driving and is not suitable for driving conditions.</a:t>
            </a:r>
          </a:p>
          <a:p>
            <a:endParaRPr lang="en-US" sz="3200" dirty="0" smtClean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+mn-lt"/>
              </a:rPr>
              <a:t>For example, Electroencephalography (EEG) and Electrocardiography (ECG), </a:t>
            </a:r>
            <a:r>
              <a:rPr lang="en-US" sz="3200" dirty="0" err="1" smtClean="0">
                <a:latin typeface="+mn-lt"/>
              </a:rPr>
              <a:t>i</a:t>
            </a:r>
            <a:r>
              <a:rPr lang="en-US" sz="3200" dirty="0" smtClean="0">
                <a:latin typeface="+mn-lt"/>
              </a:rPr>
              <a:t>. e, detecting the brain frequency and measuring the rhythm of heart, respectively.</a:t>
            </a:r>
          </a:p>
          <a:p>
            <a:endParaRPr lang="en-US" sz="3200" dirty="0" smtClean="0">
              <a:latin typeface="+mn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+mn-lt"/>
              </a:rPr>
              <a:t>A drowsiness detection system which use a camera is more suitable to be use but the physical signs that will indicate drowsiness need to be located first in order to come up with a drowsiness detection algorithm that is reliable and accurate.</a:t>
            </a:r>
            <a:endParaRPr lang="en-US" sz="3200" dirty="0">
              <a:latin typeface="+mn-lt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667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04642-4068-976C-7E64-6A3A78E22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9F91C24-B971-78AE-CF34-B790681EC6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95600" y="571500"/>
            <a:ext cx="11811000" cy="692497"/>
          </a:xfrm>
          <a:prstGeom prst="rect">
            <a:avLst/>
          </a:prstGeom>
          <a:solidFill>
            <a:srgbClr val="1B5011"/>
          </a:solidFill>
        </p:spPr>
        <p:txBody>
          <a:bodyPr vert="horz" wrap="square" lIns="0" tIns="76200" rIns="0" bIns="0" rtlCol="0">
            <a:spAutoFit/>
          </a:bodyPr>
          <a:lstStyle/>
          <a:p>
            <a:pPr marL="80645" algn="ctr">
              <a:lnSpc>
                <a:spcPct val="100000"/>
              </a:lnSpc>
              <a:spcBef>
                <a:spcPts val="600"/>
              </a:spcBef>
              <a:tabLst>
                <a:tab pos="2632710" algn="l"/>
              </a:tabLst>
            </a:pPr>
            <a:r>
              <a:rPr lang="en-US" sz="4000" spc="570" dirty="0"/>
              <a:t>APPLICATION &amp; FUTURE SCOPE</a:t>
            </a:r>
            <a:endParaRPr sz="4000" spc="57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3898802B-85C1-385B-C25E-6A5A87583E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13129" y="8591694"/>
            <a:ext cx="2174870" cy="16953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37099773-F8CA-C3EB-A2E8-A8739C0FF6C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989" y="0"/>
            <a:ext cx="1914524" cy="1064259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26DF6FB3-4ADF-B1FD-4F41-3C2484E68E3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31003" y="0"/>
            <a:ext cx="2956994" cy="1695297"/>
          </a:xfrm>
          <a:prstGeom prst="rect">
            <a:avLst/>
          </a:prstGeom>
        </p:spPr>
      </p:pic>
      <p:sp>
        <p:nvSpPr>
          <p:cNvPr id="3" name="object 9">
            <a:extLst>
              <a:ext uri="{FF2B5EF4-FFF2-40B4-BE49-F238E27FC236}">
                <a16:creationId xmlns:a16="http://schemas.microsoft.com/office/drawing/2014/main" id="{E6615B7E-6287-BCDC-FB9C-F72017824436}"/>
              </a:ext>
            </a:extLst>
          </p:cNvPr>
          <p:cNvSpPr txBox="1"/>
          <p:nvPr/>
        </p:nvSpPr>
        <p:spPr>
          <a:xfrm>
            <a:off x="2971800" y="1866900"/>
            <a:ext cx="11391900" cy="6966651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dirty="0" smtClean="0"/>
              <a:t>Enhances </a:t>
            </a:r>
            <a:r>
              <a:rPr lang="en-US" sz="3200" b="1" dirty="0" smtClean="0"/>
              <a:t>driver safety</a:t>
            </a:r>
            <a:r>
              <a:rPr lang="en-US" sz="3200" dirty="0" smtClean="0"/>
              <a:t> by detecting signs of drowsiness in real time.</a:t>
            </a:r>
          </a:p>
          <a:p>
            <a:endParaRPr lang="en-US" sz="32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/>
              <a:t>Can be integrated into </a:t>
            </a:r>
            <a:r>
              <a:rPr lang="en-US" sz="3200" b="1" dirty="0" smtClean="0"/>
              <a:t>vehicles</a:t>
            </a:r>
            <a:r>
              <a:rPr lang="en-US" sz="3200" dirty="0" smtClean="0"/>
              <a:t>, especially in long-distance transport or commercial fleets.</a:t>
            </a:r>
          </a:p>
          <a:p>
            <a:endParaRPr lang="en-US" sz="3200" dirty="0">
              <a:latin typeface="+mn-lt"/>
            </a:endParaRPr>
          </a:p>
          <a:p>
            <a:pPr>
              <a:buFont typeface="Wingdings" pitchFamily="2" charset="2"/>
              <a:buChar char="Ø"/>
            </a:pPr>
            <a:r>
              <a:rPr lang="en-US" sz="3200" dirty="0" smtClean="0"/>
              <a:t>Integration with </a:t>
            </a:r>
            <a:r>
              <a:rPr lang="en-US" sz="3200" b="1" dirty="0" smtClean="0"/>
              <a:t>voice assistants</a:t>
            </a:r>
            <a:r>
              <a:rPr lang="en-US" sz="3200" dirty="0" smtClean="0"/>
              <a:t> for hands-free alerts and responses.</a:t>
            </a:r>
          </a:p>
          <a:p>
            <a:pPr>
              <a:buFont typeface="Wingdings" pitchFamily="2" charset="2"/>
              <a:buChar char="Ø"/>
            </a:pPr>
            <a:endParaRPr lang="en-US" sz="3200" dirty="0"/>
          </a:p>
          <a:p>
            <a:pPr>
              <a:buFont typeface="Wingdings" pitchFamily="2" charset="2"/>
              <a:buChar char="Ø"/>
            </a:pPr>
            <a:r>
              <a:rPr lang="en-US" sz="3200" dirty="0" smtClean="0"/>
              <a:t>Extendable to include </a:t>
            </a:r>
            <a:r>
              <a:rPr lang="en-US" sz="3200" b="1" dirty="0" smtClean="0"/>
              <a:t>real-time alerts to emergency contacts or fleet managers.</a:t>
            </a:r>
          </a:p>
          <a:p>
            <a:endParaRPr lang="en-US" sz="3200" dirty="0" smtClean="0"/>
          </a:p>
          <a:p>
            <a:pPr>
              <a:buFont typeface="Wingdings" pitchFamily="2" charset="2"/>
              <a:buChar char="Ø"/>
            </a:pPr>
            <a:r>
              <a:rPr lang="en-US" sz="3200" dirty="0" smtClean="0"/>
              <a:t>Potential for </a:t>
            </a:r>
            <a:r>
              <a:rPr lang="en-US" sz="3200" b="1" dirty="0" smtClean="0"/>
              <a:t>smart vehicle systems</a:t>
            </a:r>
            <a:r>
              <a:rPr lang="en-US" sz="3200" dirty="0" smtClean="0"/>
              <a:t> or </a:t>
            </a:r>
            <a:r>
              <a:rPr lang="en-US" sz="3200" b="1" dirty="0" err="1" smtClean="0"/>
              <a:t>IoT</a:t>
            </a:r>
            <a:r>
              <a:rPr lang="en-US" sz="3200" b="1" dirty="0" smtClean="0"/>
              <a:t>-based embedded integration</a:t>
            </a:r>
            <a:endParaRPr lang="en-US" sz="3200" dirty="0">
              <a:latin typeface="+mn-lt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52400" y="-1707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125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7998" y="560316"/>
            <a:ext cx="12219503" cy="630942"/>
          </a:xfrm>
          <a:prstGeom prst="rect">
            <a:avLst/>
          </a:prstGeom>
          <a:solidFill>
            <a:srgbClr val="1B5011"/>
          </a:solidFill>
        </p:spPr>
        <p:txBody>
          <a:bodyPr vert="horz" wrap="square" lIns="0" tIns="76200" rIns="0" bIns="0" rtlCol="0">
            <a:spAutoFit/>
          </a:bodyPr>
          <a:lstStyle/>
          <a:p>
            <a:pPr marL="80645" algn="ctr">
              <a:lnSpc>
                <a:spcPct val="100000"/>
              </a:lnSpc>
              <a:spcBef>
                <a:spcPts val="600"/>
              </a:spcBef>
              <a:tabLst>
                <a:tab pos="2632710" algn="l"/>
              </a:tabLst>
            </a:pPr>
            <a:r>
              <a:rPr lang="en-US" spc="570" dirty="0"/>
              <a:t>CONCLUSION &amp; REFERENCES</a:t>
            </a:r>
            <a:endParaRPr spc="57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13129" y="8591694"/>
            <a:ext cx="2174870" cy="16953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989" y="0"/>
            <a:ext cx="1914524" cy="10642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31003" y="0"/>
            <a:ext cx="2956994" cy="169529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71800" y="1866900"/>
            <a:ext cx="11391900" cy="6104876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algn="just"/>
            <a:r>
              <a:rPr lang="en-US" sz="2800" dirty="0" smtClean="0"/>
              <a:t>The Driver Drowsiness Detection system effectively identifies fatigue using facial landmarks and real-time video. By analyzing EAR and MAR values, it detects signs like eye closure and yawning with high accuracy. The system runs efficiently on low-end devices, making it suitable for integration into vehicles to enhance road safety.</a:t>
            </a:r>
          </a:p>
          <a:p>
            <a:pPr algn="just"/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err="1" smtClean="0"/>
              <a:t>Soukupová</a:t>
            </a:r>
            <a:r>
              <a:rPr lang="en-US" sz="2800" dirty="0" smtClean="0"/>
              <a:t>, T., &amp; </a:t>
            </a:r>
            <a:r>
              <a:rPr lang="en-US" sz="2800" dirty="0" err="1" smtClean="0"/>
              <a:t>Čech</a:t>
            </a:r>
            <a:r>
              <a:rPr lang="en-US" sz="2800" dirty="0" smtClean="0"/>
              <a:t>, J. (2016). </a:t>
            </a:r>
            <a:r>
              <a:rPr lang="en-US" sz="2800" i="1" dirty="0" smtClean="0"/>
              <a:t>Real-Time Eye Blink Detection using Facial Landmarks</a:t>
            </a:r>
            <a:r>
              <a:rPr lang="en-US" sz="2800" dirty="0" smtClean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 err="1" smtClean="0"/>
              <a:t>Dlib</a:t>
            </a:r>
            <a:r>
              <a:rPr lang="en-IN" sz="2800" dirty="0" smtClean="0"/>
              <a:t> Library – </a:t>
            </a:r>
            <a:r>
              <a:rPr lang="en-IN" sz="2800" dirty="0" smtClean="0">
                <a:hlinkClick r:id="rId5"/>
              </a:rPr>
              <a:t>http://dlib.net</a:t>
            </a:r>
            <a:endParaRPr lang="en-IN" sz="28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 err="1" smtClean="0"/>
              <a:t>OpenCV</a:t>
            </a:r>
            <a:r>
              <a:rPr lang="en-IN" sz="2800" dirty="0" smtClean="0"/>
              <a:t> Library – </a:t>
            </a:r>
            <a:r>
              <a:rPr lang="en-IN" sz="2800" dirty="0" smtClean="0">
                <a:hlinkClick r:id="rId6"/>
              </a:rPr>
              <a:t>https://opencv.org</a:t>
            </a:r>
            <a:endParaRPr lang="en-IN" sz="28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 smtClean="0"/>
              <a:t>Python – </a:t>
            </a:r>
            <a:r>
              <a:rPr lang="en-IN" sz="2800" dirty="0" smtClean="0">
                <a:hlinkClick r:id="rId7"/>
              </a:rPr>
              <a:t>https://www.python.org</a:t>
            </a:r>
            <a:endParaRPr lang="en-US" sz="2800" dirty="0" smtClean="0"/>
          </a:p>
          <a:p>
            <a:pPr algn="just"/>
            <a:endParaRPr lang="en-US" sz="2800" dirty="0"/>
          </a:p>
          <a:p>
            <a:pPr algn="just"/>
            <a:r>
              <a:rPr lang="en-US" sz="2800" dirty="0" smtClean="0"/>
              <a:t>  </a:t>
            </a:r>
            <a:endParaRPr lang="en-US" sz="2800" dirty="0"/>
          </a:p>
          <a:p>
            <a:pPr algn="just"/>
            <a:endParaRPr sz="2800" dirty="0">
              <a:latin typeface="+mn-lt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87125" y="2605"/>
            <a:ext cx="10297160" cy="7372984"/>
            <a:chOff x="7987125" y="2605"/>
            <a:chExt cx="10297160" cy="737298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87125" y="2605"/>
              <a:ext cx="10296534" cy="73724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44194" y="1038224"/>
              <a:ext cx="1333499" cy="1333499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046755"/>
            <a:ext cx="2750170" cy="324024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xfrm>
            <a:off x="3477786" y="4179146"/>
            <a:ext cx="8156575" cy="2003112"/>
          </a:xfrm>
          <a:prstGeom prst="rect">
            <a:avLst/>
          </a:prstGeom>
        </p:spPr>
        <p:txBody>
          <a:bodyPr vert="horz" wrap="square" lIns="0" tIns="383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20"/>
              </a:spcBef>
            </a:pPr>
            <a:r>
              <a:rPr sz="10500" b="1" spc="229">
                <a:solidFill>
                  <a:srgbClr val="110F0D"/>
                </a:solidFill>
                <a:latin typeface="Tahoma"/>
                <a:cs typeface="Tahoma"/>
              </a:rPr>
              <a:t>T</a:t>
            </a:r>
            <a:r>
              <a:rPr lang="en-IN" sz="10500" b="1" spc="229" dirty="0">
                <a:solidFill>
                  <a:srgbClr val="110F0D"/>
                </a:solidFill>
                <a:latin typeface="Tahoma"/>
                <a:cs typeface="Tahoma"/>
              </a:rPr>
              <a:t>hank You</a:t>
            </a:r>
            <a:endParaRPr sz="10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1303</TotalTime>
  <Words>808</Words>
  <Application>Microsoft Office PowerPoint</Application>
  <PresentationFormat>Custom</PresentationFormat>
  <Paragraphs>113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Arial MT</vt:lpstr>
      <vt:lpstr>Calibri</vt:lpstr>
      <vt:lpstr>Century Gothic</vt:lpstr>
      <vt:lpstr>Tahoma</vt:lpstr>
      <vt:lpstr>Times New Roman</vt:lpstr>
      <vt:lpstr>Trebuchet MS</vt:lpstr>
      <vt:lpstr>Verdana</vt:lpstr>
      <vt:lpstr>Wingdings</vt:lpstr>
      <vt:lpstr>Office Theme</vt:lpstr>
      <vt:lpstr> RAJIV GANDHI UNIVERSITY OF KNOWLEDGE TECHNOLOGIES</vt:lpstr>
      <vt:lpstr>ABSTRACT</vt:lpstr>
      <vt:lpstr>INTRODUCTION &amp; LITERATURE OVERVIEW</vt:lpstr>
      <vt:lpstr>PROBLEM STATEMENT</vt:lpstr>
      <vt:lpstr>WORK FLOW DIAGRAM</vt:lpstr>
      <vt:lpstr>IMPLEMENTATION</vt:lpstr>
      <vt:lpstr>IMPLEMENTATION</vt:lpstr>
      <vt:lpstr>IMPLEMENTATION</vt:lpstr>
      <vt:lpstr>RESULT AND ANALYSIS</vt:lpstr>
      <vt:lpstr>COMPARISION WITH EXISTING METHODS</vt:lpstr>
      <vt:lpstr>APPLICATION &amp; FUTURE SCOPE</vt:lpstr>
      <vt:lpstr>CONCLUSION &amp; 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AfflicartZ</dc:title>
  <dc:creator>Gouti Pavan Kumar</dc:creator>
  <cp:keywords>DAGPMnn9dfY,BAFlybQfTJo</cp:keywords>
  <cp:lastModifiedBy>dell</cp:lastModifiedBy>
  <cp:revision>146</cp:revision>
  <dcterms:created xsi:type="dcterms:W3CDTF">2024-10-25T09:57:21Z</dcterms:created>
  <dcterms:modified xsi:type="dcterms:W3CDTF">2025-05-08T18:54:33Z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2024-08-29T00:00:00Z</vt:filetime>
  </property>
  <property fmtid="{D5CDD505-2E9C-101B-9397-08002B2CF9AE}" pid="3" name="Creator">
    <vt:lpwstr>Canva</vt:lpwstr>
  </property>
  <property fmtid="{D5CDD505-2E9C-101B-9397-08002B2CF9AE}" pid="4" name="LastSaved">
    <vt:filetime>2024-10-25T00:00:00Z</vt:filetime>
  </property>
  <property fmtid="{D5CDD505-2E9C-101B-9397-08002B2CF9AE}" pid="5" name="Producer">
    <vt:lpwstr>Canva</vt:lpwstr>
  </property>
</Properties>
</file>